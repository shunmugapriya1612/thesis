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8" r:id="rId22"/>
    <p:sldId id="279" r:id="rId23"/>
    <p:sldId id="280" r:id="rId24"/>
    <p:sldId id="277" r:id="rId25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7"/>
  </p:normalViewPr>
  <p:slideViewPr>
    <p:cSldViewPr snapToGrid="0">
      <p:cViewPr varScale="1">
        <p:scale>
          <a:sx n="112" d="100"/>
          <a:sy n="112" d="100"/>
        </p:scale>
        <p:origin x="71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BC9BA-F983-DAB3-9D5E-C238DA3274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CD20F-EEB5-6FBF-BEFD-81B8CC894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EBC74-694E-09F0-2C14-EC843D66F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3E8B2-E290-AA05-46BE-2A292053C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9BE16-E2A6-D34E-5689-B25E4F39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80196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1DAFF-C4B0-3EFD-9E2B-F7DBD4BF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10902-E6BB-3298-89B9-72694B40B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2C9-F591-2B6F-38F5-A757626D1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BAAE17-7111-C1D9-4B43-C616F8787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DDE01-2603-AC16-A932-723A712D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1591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BAEE1-FFE7-5CCE-AE44-92851C17C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6FDED-A5AA-EBE7-F752-AD8B0BEF5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33402-CAD8-1D97-21FA-67FAF2952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08F8C-2B07-16B6-B2BB-1EC5E4C41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24D5E-D624-4D34-51BB-C977138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69678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0B160-9701-2DC8-FC24-9B11A1F56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B76A2-FB1C-F1ED-7ECA-5755BF13F0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2357D-C972-7F67-8DA0-156BFB098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90B202-F46A-EE70-1BCE-F9E98159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517B2-FFD5-0902-B889-A5B5EB783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6FDA6-BB9C-E8B7-2934-7C3EFC72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3414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18538-8374-3261-AC04-6EAE08F24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2C1EF-84BA-13DF-7E14-652E4234E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60C15-BC63-2CB3-9338-8224EA9A5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C9A8A-09EE-1DC8-B82C-AB2B9218E7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3E7694-86AB-B711-396C-70E7007E98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97CC04-3378-DA73-3DCA-9C355E8C2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9A4E0-C1A5-427D-B509-C9202BA3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6B6FA7-2194-8036-5B38-E3F504D0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8653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E854-ED58-9A39-36B7-702ABC33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45DD4F-6262-BC2E-91D7-EA451FC5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BFF93-A14D-658D-3D76-FFCECFB8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5551F-79F7-7D16-B92C-B2FB1835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35272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0FE95-606D-8415-5A08-04944153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2C509-5978-9B3C-5CCD-59E240791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EFF892-873A-8E8F-5F92-823E76802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4375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3BD8E-059D-FADC-7D6A-27B76C38D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9F21D-909E-FC49-B16E-0A76D4D84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6C3BC8-F907-80EE-844F-CB598F709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E9E90-3DB8-56F5-DE17-92287D5E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DA13-6BB3-3962-9061-30E7BC9DA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91283E-CFFC-BF36-3EC1-0B302C2DC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4581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6A0E-85A6-CC06-3FC0-00CB72C5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6F9B0F-7FAA-86BC-CAA6-EFA18C3399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D86F5-0150-8E74-9D75-BA9C775F71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1028C7-98AD-2FDA-A2E1-605F75675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8AA6C1-A202-6F58-976B-8D4353C9B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0B1343-1289-47D8-24C2-5666082C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974714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8F8A-8077-F565-AAE9-553FFBDC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DEF154-4A13-72F1-2892-7BC57DDE26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16BE7-7BA7-2C45-3930-07CE3AC6A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418CF-96A5-42B5-2238-BCA267BCA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5D905-7AA6-83F5-0FB7-65698BEB1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13572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DE6A9F-FD9E-7E6F-42E2-D84CBF684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7E0826-DC2D-12F2-9D4A-D4C69E2CD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30610-7912-E3BE-7466-52549F7F7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DDF59-6565-3633-AF5C-D06CB1D21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C28F2-6350-7254-07B5-C7E254EEF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1475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480E3-09F0-D273-6BCC-4F4340CC9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0FEDFB-666F-2A80-14A5-B3C334859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90760-F1ED-502D-0752-348BB29B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5061E-6855-C140-BF78-C9322E3F862F}" type="datetimeFigureOut">
              <a:rPr lang="en-DE" smtClean="0"/>
              <a:t>30.09.26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A5911-3D4C-AC25-C643-254273118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12678-FB95-05CF-8C6E-33B010F36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F98E6-C855-C240-993F-7F9752F98C8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12780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85CF-299D-2AB8-32FD-EA1EE7A8FC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DE" b="1" dirty="0"/>
              <a:t>AI-Assisted Design &amp; Optimization (AutoML + Metaheuristics)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158D4-73C2-5F25-8A2C-5E58DC0E8B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7230" y="5579428"/>
            <a:ext cx="9144000" cy="1655762"/>
          </a:xfrm>
        </p:spPr>
        <p:txBody>
          <a:bodyPr/>
          <a:lstStyle/>
          <a:p>
            <a:r>
              <a:rPr lang="en-DE" dirty="0"/>
              <a:t>By Shunmugapriya Swamy</a:t>
            </a:r>
          </a:p>
        </p:txBody>
      </p:sp>
    </p:spTree>
    <p:extLst>
      <p:ext uri="{BB962C8B-B14F-4D97-AF65-F5344CB8AC3E}">
        <p14:creationId xmlns:p14="http://schemas.microsoft.com/office/powerpoint/2010/main" val="47115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C4FE8-0EBD-5E6C-16A4-D9D1A014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49EA3EA-FA5F-71E9-25AB-B7C2C9F548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310" y="1418908"/>
            <a:ext cx="9144000" cy="3884612"/>
          </a:xfrm>
        </p:spPr>
        <p:txBody>
          <a:bodyPr>
            <a:normAutofit fontScale="85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Investigates the effect of </a:t>
            </a:r>
            <a:r>
              <a:rPr lang="en-DE" b="1" dirty="0"/>
              <a:t>hyperparameter optimization</a:t>
            </a:r>
            <a:r>
              <a:rPr lang="en-DE" dirty="0"/>
              <a:t> on machine-learning performance.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Evaluates models across </a:t>
            </a:r>
            <a:r>
              <a:rPr lang="en-DE" b="1" dirty="0"/>
              <a:t>multiple benchmark datasets</a:t>
            </a:r>
            <a:r>
              <a:rPr lang="en-DE" dirty="0"/>
              <a:t> with different characteristics.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Establishes a </a:t>
            </a:r>
            <a:r>
              <a:rPr lang="en-DE" b="1" dirty="0"/>
              <a:t>baseline model</a:t>
            </a:r>
            <a:r>
              <a:rPr lang="en-DE" dirty="0"/>
              <a:t> for each dataset.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Applies different optimization strategies to search for improved model configurations.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Compares: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DE" dirty="0"/>
              <a:t>Predictive performance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DE" dirty="0"/>
              <a:t>Optimization time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DE" dirty="0"/>
              <a:t>Training time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DE" dirty="0"/>
              <a:t>Convergence behaviour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Investigates whether optimization consistently improves model performance.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9174F5-29AC-9F4E-D7A2-7FCD08140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" y="227012"/>
            <a:ext cx="7852410" cy="985520"/>
          </a:xfrm>
        </p:spPr>
        <p:txBody>
          <a:bodyPr>
            <a:normAutofit fontScale="90000"/>
          </a:bodyPr>
          <a:lstStyle/>
          <a:p>
            <a:r>
              <a:rPr lang="en-DE" b="1" dirty="0"/>
              <a:t>What is the Thesis About?</a:t>
            </a:r>
          </a:p>
        </p:txBody>
      </p:sp>
    </p:spTree>
    <p:extLst>
      <p:ext uri="{BB962C8B-B14F-4D97-AF65-F5344CB8AC3E}">
        <p14:creationId xmlns:p14="http://schemas.microsoft.com/office/powerpoint/2010/main" val="3215884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500E7-117D-072F-6A14-C23E07E14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7A4D3F8-8D97-548C-38D9-A7106F235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47212" y="1212532"/>
            <a:ext cx="4065718" cy="5176838"/>
          </a:xfrm>
        </p:spPr>
        <p:txBody>
          <a:bodyPr>
            <a:normAutofit/>
          </a:bodyPr>
          <a:lstStyle/>
          <a:p>
            <a:pPr algn="l"/>
            <a:r>
              <a:rPr lang="en-DE" b="1" dirty="0"/>
              <a:t>Why these datasets?</a:t>
            </a:r>
          </a:p>
          <a:p>
            <a:pPr algn="l"/>
            <a:endParaRPr lang="en-DE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100" dirty="0"/>
              <a:t>Provide </a:t>
            </a:r>
            <a:r>
              <a:rPr lang="en-DE" sz="2100" b="1" dirty="0"/>
              <a:t>different data characteristics</a:t>
            </a:r>
            <a:r>
              <a:rPr lang="en-DE" sz="2100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100" dirty="0"/>
              <a:t>Cover </a:t>
            </a:r>
            <a:r>
              <a:rPr lang="en-DE" sz="2100" b="1" dirty="0"/>
              <a:t>binary and multiclass classification</a:t>
            </a:r>
            <a:r>
              <a:rPr lang="en-DE" sz="2100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100" dirty="0"/>
              <a:t>Include different dataset sizes and feature types.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100" dirty="0"/>
              <a:t>Include datasets with </a:t>
            </a:r>
            <a:r>
              <a:rPr lang="en-DE" sz="2100" b="1" dirty="0"/>
              <a:t>class imbalance, missing values and temporal structure</a:t>
            </a:r>
            <a:r>
              <a:rPr lang="en-DE" sz="2100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100" dirty="0"/>
              <a:t>Allow optimization methods to be evaluated under different modelling conditions.</a:t>
            </a:r>
          </a:p>
          <a:p>
            <a:pPr algn="l"/>
            <a:endParaRPr lang="en-DE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9C1F8C-ADBF-7FE5-C525-186BF52F2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187164" y="227012"/>
            <a:ext cx="7852410" cy="985520"/>
          </a:xfrm>
        </p:spPr>
        <p:txBody>
          <a:bodyPr>
            <a:normAutofit/>
          </a:bodyPr>
          <a:lstStyle/>
          <a:p>
            <a:r>
              <a:rPr lang="en-DE" b="1" dirty="0"/>
              <a:t>Datasets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FA0B4BD-275A-8F72-C683-1373E5731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62" y="1432355"/>
            <a:ext cx="6942344" cy="322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867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C60F-4287-FC54-C255-B688C0F50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3ECE24-5A09-F897-E1D2-4C721B516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1755457"/>
            <a:ext cx="6057900" cy="5531168"/>
          </a:xfrm>
        </p:spPr>
        <p:txBody>
          <a:bodyPr>
            <a:normAutofit/>
          </a:bodyPr>
          <a:lstStyle/>
          <a:p>
            <a:pPr algn="l"/>
            <a:r>
              <a:rPr lang="en-DE" sz="2000" b="1" dirty="0"/>
              <a:t>Dataset-specific analysis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000" b="1" dirty="0"/>
              <a:t>Water:</a:t>
            </a:r>
            <a:r>
              <a:rPr lang="en-DE" sz="2000" dirty="0"/>
              <a:t> Missing values, class imbalance and feature relationships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000" b="1" dirty="0"/>
              <a:t>Solar Flare:</a:t>
            </a:r>
            <a:r>
              <a:rPr lang="en-DE" sz="2000" dirty="0"/>
              <a:t> Multiclass distribution and categorical/numerical features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000" b="1" dirty="0"/>
              <a:t>Energy Efficiency:</a:t>
            </a:r>
            <a:r>
              <a:rPr lang="en-DE" sz="2000" dirty="0"/>
              <a:t> Heating/Cooling relationship and energy-class construction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000" b="1" dirty="0"/>
              <a:t>Electricity:</a:t>
            </a:r>
            <a:r>
              <a:rPr lang="en-DE" sz="2000" dirty="0"/>
              <a:t> Price, demand, period and target-transition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000" b="1" dirty="0"/>
              <a:t>Smart Grid:</a:t>
            </a:r>
            <a:r>
              <a:rPr lang="en-DE" sz="2000" dirty="0"/>
              <a:t> Stability distribution and feature relationships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sz="2000" b="1" dirty="0"/>
              <a:t>Appliance Energy:</a:t>
            </a:r>
            <a:r>
              <a:rPr lang="en-DE" sz="2000" dirty="0"/>
              <a:t> Consumption distribution and K-Means clustering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0DC965-7029-1C18-8084-0B26536EC1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986" y="0"/>
            <a:ext cx="8656544" cy="985520"/>
          </a:xfrm>
        </p:spPr>
        <p:txBody>
          <a:bodyPr>
            <a:normAutofit fontScale="90000"/>
          </a:bodyPr>
          <a:lstStyle/>
          <a:p>
            <a:r>
              <a:rPr lang="en-DE" b="1" dirty="0"/>
              <a:t>What Was Done in Phase 1?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5CBE61D-B3C3-29E5-B350-108C35F969FF}"/>
              </a:ext>
            </a:extLst>
          </p:cNvPr>
          <p:cNvSpPr txBox="1">
            <a:spLocks/>
          </p:cNvSpPr>
          <p:nvPr/>
        </p:nvSpPr>
        <p:spPr>
          <a:xfrm>
            <a:off x="350072" y="1755457"/>
            <a:ext cx="5570668" cy="42852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DE" b="1" dirty="0"/>
              <a:t>For each dataset: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Dataset structure and feature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Missing-value and duplicate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Target/class distribution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Feature distribution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Feature–target relationship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Correlation analysis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Dataset-specific target preparation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Baseline model development</a:t>
            </a:r>
          </a:p>
          <a:p>
            <a:pPr algn="l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066451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2DF88-C994-ACE6-5E4B-80F327CDA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9992F7-F554-FBCE-816F-D19F4A6BD6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067024" y="284162"/>
            <a:ext cx="7852410" cy="985520"/>
          </a:xfrm>
        </p:spPr>
        <p:txBody>
          <a:bodyPr>
            <a:normAutofit/>
          </a:bodyPr>
          <a:lstStyle/>
          <a:p>
            <a:r>
              <a:rPr lang="en-DE" b="1" dirty="0"/>
              <a:t>Phase 1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455A0-160C-1C36-0EBE-E47CBDF81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589" y="1378567"/>
            <a:ext cx="7772400" cy="457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71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D9D55-0239-3A6C-197A-5E324B7F1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785357F-2C72-5E7B-EFD3-F7FD7D8549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From Continuous Energy Consumption to Classification Classes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135DA2-59E8-6D01-7542-13C312DE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25" y="1448547"/>
            <a:ext cx="9789987" cy="3876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03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E7DDC-518F-F3A1-78CC-1C9874E7E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40550-9F13-1E11-B604-1A30C0691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Baseline Model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577E7E6-5797-F4D1-072C-517F32EBDE2A}"/>
              </a:ext>
            </a:extLst>
          </p:cNvPr>
          <p:cNvSpPr txBox="1">
            <a:spLocks/>
          </p:cNvSpPr>
          <p:nvPr/>
        </p:nvSpPr>
        <p:spPr>
          <a:xfrm>
            <a:off x="350072" y="1143000"/>
            <a:ext cx="5570668" cy="53720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DE" b="1" dirty="0"/>
              <a:t>What was done?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A baseline model was trained before applying optimization.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The baseline uses a fixed set of hyperparameters.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The same baseline provides the reference point for later optimization.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Test data is kept separate from the optimization process.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Training time and predictive metrics are recorded.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DE" dirty="0"/>
          </a:p>
          <a:p>
            <a:pPr algn="l"/>
            <a:r>
              <a:rPr lang="en-DE" b="1" dirty="0"/>
              <a:t>Why baseline first?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It shows how well the model performs </a:t>
            </a:r>
            <a:r>
              <a:rPr lang="en-DE" b="1" dirty="0"/>
              <a:t>without optimization</a:t>
            </a:r>
            <a:r>
              <a:rPr lang="en-DE" dirty="0"/>
              <a:t>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It identifies whether the dataset already has a strong predictive structure.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It provides a reference for measuring improvement or degradation.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DE" dirty="0"/>
              <a:t>It helps determine whether further optimization is computationally justified.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B79237-0636-A2EE-01DF-5C15EED2B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262" y="1835149"/>
            <a:ext cx="5143500" cy="398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268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9DFF9-1577-C919-4669-C1DC9A69B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83DCA9-B48A-6A58-DC0C-D4AE54A87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Baseline Performance Across Datasets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B69BA1-3E4E-C145-A9E4-1B6CE108CFF1}"/>
              </a:ext>
            </a:extLst>
          </p:cNvPr>
          <p:cNvSpPr txBox="1"/>
          <p:nvPr/>
        </p:nvSpPr>
        <p:spPr>
          <a:xfrm>
            <a:off x="441736" y="1397675"/>
            <a:ext cx="668991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b="1" dirty="0"/>
              <a:t>Key observations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DE" dirty="0"/>
              <a:t>Baseline performance differs substantially between datasets.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DE" dirty="0"/>
              <a:t>Some datasets are already very easy for the selected model.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DE" dirty="0"/>
              <a:t>Others show clear limitations caused by class imbalance or complex relationships.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DE" dirty="0"/>
              <a:t>Therefore, the expected benefit of hyperparameter optimization is not the same for every dataset.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94281B-2208-B290-D525-244A13E7B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9815" y="3533023"/>
            <a:ext cx="7772400" cy="3324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35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6DE6-4EC9-F39A-5FFA-46CAE05F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980454-8A2E-1513-744B-77C038C74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Hyperparameter Search Space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429251-31F1-8B2F-6435-A992F4536189}"/>
              </a:ext>
            </a:extLst>
          </p:cNvPr>
          <p:cNvSpPr txBox="1"/>
          <p:nvPr/>
        </p:nvSpPr>
        <p:spPr>
          <a:xfrm>
            <a:off x="358589" y="1397675"/>
            <a:ext cx="511189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DE" sz="2000" dirty="0"/>
              <a:t>The search space contains </a:t>
            </a:r>
            <a:r>
              <a:rPr lang="en-DE" sz="2000" b="1" dirty="0"/>
              <a:t>180 possible combinations</a:t>
            </a:r>
            <a:r>
              <a:rPr lang="en-DE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endParaRPr lang="en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DE" sz="2000" dirty="0"/>
              <a:t>Every optimization algorithm operates within the defined search space. </a:t>
            </a:r>
          </a:p>
          <a:p>
            <a:pPr>
              <a:buFont typeface="Arial" panose="020B0604020202020204" pitchFamily="34" charset="0"/>
              <a:buChar char="•"/>
            </a:pPr>
            <a:endParaRPr lang="en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DE" sz="2000" dirty="0"/>
              <a:t>This keeps the comparison focused on the </a:t>
            </a:r>
            <a:r>
              <a:rPr lang="en-DE" sz="2000" b="1" dirty="0"/>
              <a:t>search strategy</a:t>
            </a:r>
            <a:r>
              <a:rPr lang="en-DE" sz="2000" dirty="0"/>
              <a:t>, rather than changing the underlying model space. </a:t>
            </a:r>
          </a:p>
          <a:p>
            <a:endParaRPr lang="en-DE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DE" sz="2000" dirty="0"/>
              <a:t>The MLP training limit remains </a:t>
            </a:r>
            <a:r>
              <a:rPr lang="en-DE" sz="2000" b="1" dirty="0"/>
              <a:t>500 iterations</a:t>
            </a:r>
            <a:r>
              <a:rPr lang="en-DE" sz="2000" dirty="0"/>
              <a:t>; optimizer iterations/trials are a separate concept.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8AB7F9-293C-F020-1A05-32B528BB3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4294" y="1397675"/>
            <a:ext cx="6096000" cy="365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0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75F03-F0C0-7FBF-0F34-990196D5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FC162B1-7D7F-C439-57AC-BCAA3BDA4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Candidate Evaluation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C6A355-5860-B455-BAD2-94241F9783C7}"/>
              </a:ext>
            </a:extLst>
          </p:cNvPr>
          <p:cNvSpPr txBox="1"/>
          <p:nvPr/>
        </p:nvSpPr>
        <p:spPr>
          <a:xfrm>
            <a:off x="552899" y="1077635"/>
            <a:ext cx="5111899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b="1" dirty="0"/>
              <a:t>How was each configuration evaluated?</a:t>
            </a:r>
          </a:p>
          <a:p>
            <a:endParaRPr lang="en-DE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Generate/select a hyperparameter configuration.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Build the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Train the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Evaluate the configuration using validation/CV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Store the performance score.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Record optimization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Continue searching for another configuration.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Select the best configuration according to the defined optimization metric.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Retrain the selected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Evaluate once on the independent test set.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999E40-4073-87E8-8FC1-AA1658CED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4798" y="1077635"/>
            <a:ext cx="610870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2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F5B12-E669-0B51-C583-1938F3DC1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069CD4-A42F-F0D9-1822-5AAA2DC77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1: Random Search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E30AC-CC76-0209-AB38-A7D8AF3EB5E6}"/>
              </a:ext>
            </a:extLst>
          </p:cNvPr>
          <p:cNvSpPr txBox="1"/>
          <p:nvPr/>
        </p:nvSpPr>
        <p:spPr>
          <a:xfrm>
            <a:off x="525669" y="1009055"/>
            <a:ext cx="50279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DE" b="1" dirty="0"/>
              <a:t>What does Random Search do?</a:t>
            </a:r>
          </a:p>
          <a:p>
            <a:pPr>
              <a:buNone/>
            </a:pPr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Random Search selects hyperparameter configurations randomly from the predefined search space.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Each selected configuration is trained and evaluated.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configuration with the best validation/CV score is retained.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It does </a:t>
            </a:r>
            <a:r>
              <a:rPr lang="en-DE" b="1" dirty="0"/>
              <a:t>not use information from previous trials</a:t>
            </a:r>
            <a:r>
              <a:rPr lang="en-DE" dirty="0"/>
              <a:t> to guide the next selection.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F5FC46-1611-41C3-F8CF-7B9300D2CB6B}"/>
              </a:ext>
            </a:extLst>
          </p:cNvPr>
          <p:cNvSpPr txBox="1"/>
          <p:nvPr/>
        </p:nvSpPr>
        <p:spPr>
          <a:xfrm>
            <a:off x="525669" y="4389656"/>
            <a:ext cx="378344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was experimented with?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Different hidden-layer structures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ReLU and tanh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Different learning rates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Different regularization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Different batch sizes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Multiple random configurations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1A01A-0FA8-0631-089F-A4E06A0662DD}"/>
              </a:ext>
            </a:extLst>
          </p:cNvPr>
          <p:cNvSpPr txBox="1"/>
          <p:nvPr/>
        </p:nvSpPr>
        <p:spPr>
          <a:xfrm>
            <a:off x="5839832" y="3995678"/>
            <a:ext cx="619494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Random Search can quickly explore different regions of the search space.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It can find useful configurations without requiring a complex optimization model.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However, it may spend evaluations on weak configurations.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More random trials increase computational cost.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Improvement is highly dataset-dependent.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3FA9AD-CD90-432F-9659-0D139276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833" y="1256904"/>
            <a:ext cx="6194947" cy="1714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23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32109-A64B-5DF6-240A-80221E506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DD966B-7F58-9A4D-27D2-18AA4BE1F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2: Bayesian Optimization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22CCD-B739-A56B-F605-ED79C973BDFD}"/>
              </a:ext>
            </a:extLst>
          </p:cNvPr>
          <p:cNvSpPr txBox="1"/>
          <p:nvPr/>
        </p:nvSpPr>
        <p:spPr>
          <a:xfrm>
            <a:off x="358589" y="1135609"/>
            <a:ext cx="50279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does Bayesian Optimization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Bayesian Optimization learns from previously evaluated configurations.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It uses the observed results to identify promising regions of the search space.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New configurations are selected based on the accumulated search information.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Therefore, the search is </a:t>
            </a:r>
            <a:r>
              <a:rPr lang="en-DE" b="1" dirty="0"/>
              <a:t>guided rather than purely random</a:t>
            </a:r>
            <a:r>
              <a:rPr lang="en-DE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42A74F-F996-245D-6211-BC466AD6748C}"/>
              </a:ext>
            </a:extLst>
          </p:cNvPr>
          <p:cNvSpPr txBox="1"/>
          <p:nvPr/>
        </p:nvSpPr>
        <p:spPr>
          <a:xfrm>
            <a:off x="525669" y="4389656"/>
            <a:ext cx="37834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was experimented with?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Evaluate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Update search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Identify promising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Select next configuration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CD8A8-8432-FEF8-CF50-87B4D735712D}"/>
              </a:ext>
            </a:extLst>
          </p:cNvPr>
          <p:cNvSpPr txBox="1"/>
          <p:nvPr/>
        </p:nvSpPr>
        <p:spPr>
          <a:xfrm>
            <a:off x="5839832" y="3995678"/>
            <a:ext cx="61949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Bayesian search can use previous trials more efficiently than random exploration.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It can achieve strong validation scores.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However, a strong validation score does not guarantee better independent test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optimization itself introduces additional computational overhead.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D47464-14A4-AE97-A701-80AC97FD1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513" y="1461986"/>
            <a:ext cx="6194947" cy="1678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37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2423E-5B7A-1695-2FF3-F1882C923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453C3E-928A-4250-9D40-13164FC00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3: Hyperband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0F0F52-7246-6831-F96B-CED75ADAD711}"/>
              </a:ext>
            </a:extLst>
          </p:cNvPr>
          <p:cNvSpPr txBox="1"/>
          <p:nvPr/>
        </p:nvSpPr>
        <p:spPr>
          <a:xfrm>
            <a:off x="358589" y="1135609"/>
            <a:ext cx="502796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does Hyperband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Hyperband focuses on </a:t>
            </a:r>
            <a:r>
              <a:rPr lang="en-DE" b="1" dirty="0"/>
              <a:t>resource allocation</a:t>
            </a:r>
            <a:r>
              <a:rPr lang="en-DE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Instead of fully training every candidate, it initially gives candidates limited resources.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Poor-performing candidates are removed.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Promising candidates receive more training resources..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DE2CA-697E-D4C0-C2AC-47D4E1DE5E8F}"/>
              </a:ext>
            </a:extLst>
          </p:cNvPr>
          <p:cNvSpPr txBox="1"/>
          <p:nvPr/>
        </p:nvSpPr>
        <p:spPr>
          <a:xfrm>
            <a:off x="525669" y="4389656"/>
            <a:ext cx="378344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Search Process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Many candidates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Limited 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Evaluate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Eliminate weaker candidates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More resources for survivors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DBB086-5227-39B2-AC89-8BD860FE5146}"/>
              </a:ext>
            </a:extLst>
          </p:cNvPr>
          <p:cNvSpPr txBox="1"/>
          <p:nvPr/>
        </p:nvSpPr>
        <p:spPr>
          <a:xfrm>
            <a:off x="5839832" y="3995678"/>
            <a:ext cx="61949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Hyperband is useful when the search space is large.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It avoids spending full training resources on every candidate.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It can reduce unnecessary computation.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However, early elimination creates a risk: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a configuration that performs poorly early may have improved with more training.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C4CA4E-802B-1DFC-E7BE-581C3CA98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9832" y="1565909"/>
            <a:ext cx="5810801" cy="169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047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ECADA-5FDA-A198-63ED-5DF917B0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5CF1B5F-F04B-52B8-092F-630721AB9E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4: LEA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8419FB-B032-B85D-E1E9-FC33FD72BC35}"/>
              </a:ext>
            </a:extLst>
          </p:cNvPr>
          <p:cNvSpPr txBox="1"/>
          <p:nvPr/>
        </p:nvSpPr>
        <p:spPr>
          <a:xfrm>
            <a:off x="358589" y="1135609"/>
            <a:ext cx="50279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does LEA 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LEA treats hyperparameter configurations as a population.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Multiple configurations are evaluated.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Better configurations are retained.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New configurations are generated from the stronger candidates.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population evolves over iterations.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1DB126-B08C-C970-9542-37AD8B2EE8D1}"/>
              </a:ext>
            </a:extLst>
          </p:cNvPr>
          <p:cNvSpPr txBox="1"/>
          <p:nvPr/>
        </p:nvSpPr>
        <p:spPr>
          <a:xfrm>
            <a:off x="512222" y="3968065"/>
            <a:ext cx="37834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Process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Initial population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Evaluate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Select stronger candidates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New population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441470-7CD1-EB8E-532C-49A6EDDBCEEB}"/>
              </a:ext>
            </a:extLst>
          </p:cNvPr>
          <p:cNvSpPr txBox="1"/>
          <p:nvPr/>
        </p:nvSpPr>
        <p:spPr>
          <a:xfrm>
            <a:off x="5445311" y="3443933"/>
            <a:ext cx="65091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LEA was able to find configurations that improved validation performance in some experiments.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Water showed an improvement over the baseline test Macro F1.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Smart Grid reached 97.55% compared with the 97.40% baseline.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However, computational cost was substantially higher in some datasets.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Higher optimization cost did not always lead to better test performance.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A5A1BF-89A9-7CA6-E3BC-ACF5C9E8E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311" y="1135609"/>
            <a:ext cx="63881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305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FE32E-D9D0-0579-4718-8B11B1EF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5EC8038-C341-BA5C-EE0C-E562F165D0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5: TLBO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A6D34F-2DF7-AA63-E371-9C3C00B4B58A}"/>
              </a:ext>
            </a:extLst>
          </p:cNvPr>
          <p:cNvSpPr txBox="1"/>
          <p:nvPr/>
        </p:nvSpPr>
        <p:spPr>
          <a:xfrm>
            <a:off x="358589" y="1872019"/>
            <a:ext cx="48306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does TLBO  do?</a:t>
            </a:r>
          </a:p>
          <a:p>
            <a:r>
              <a:rPr lang="en-DE" dirty="0"/>
              <a:t>TLBO has two conceptual stages: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1" dirty="0"/>
              <a:t>Teacher phase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The strongest solution acts as the teacher.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Other candidate solutions are moved toward the teacher.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b="1" dirty="0"/>
              <a:t>Learner phase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Candidate solutions interact with each other.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A candidate can improve by learning from another candidate.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DDEC7B-EA0E-955F-7809-A6B7B12318F0}"/>
              </a:ext>
            </a:extLst>
          </p:cNvPr>
          <p:cNvSpPr txBox="1"/>
          <p:nvPr/>
        </p:nvSpPr>
        <p:spPr>
          <a:xfrm>
            <a:off x="5839832" y="3995678"/>
            <a:ext cx="61949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TLBO can find strong validation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It produced only a marginal improvement on Smart Grid.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On Energy Efficiency, the optimized model performed below the baseline.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On Water, validation performance was high, but independent test performance was lower.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Optimization time can become very large.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41AAA38-A32F-8DB1-D81E-F24B34CD41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79" y="1020883"/>
            <a:ext cx="6388100" cy="21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43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EACC3-DF4D-C81A-5F84-E3608777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EFE6F1-90FC-6797-77DB-B9CA48757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6: Simulated Annealing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23F2A-3406-BC40-2B2F-9D33FAE295A3}"/>
              </a:ext>
            </a:extLst>
          </p:cNvPr>
          <p:cNvSpPr txBox="1"/>
          <p:nvPr/>
        </p:nvSpPr>
        <p:spPr>
          <a:xfrm>
            <a:off x="358589" y="1135609"/>
            <a:ext cx="502796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does Simulated Annealing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Starts with a candidate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Generates a neighbouring configuration.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If the new configuration is better, it is accepted.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A worse configuration can sometimes also be accepted.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probability of accepting worse solutions decreases as the temperature decreases.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This allows the search to escape local solutions.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DFAC1-8F2D-E819-9607-45675F01D2F8}"/>
              </a:ext>
            </a:extLst>
          </p:cNvPr>
          <p:cNvSpPr txBox="1"/>
          <p:nvPr/>
        </p:nvSpPr>
        <p:spPr>
          <a:xfrm>
            <a:off x="483646" y="4510386"/>
            <a:ext cx="47778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Experimental result — Solar Flare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Equal computational budget was applied.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Convergence behaviour was recorded.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Temperature reduction was visualized.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test set remained untouched during optimization.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8C79A-87FC-1B6D-3037-06BA20DB9700}"/>
              </a:ext>
            </a:extLst>
          </p:cNvPr>
          <p:cNvSpPr txBox="1"/>
          <p:nvPr/>
        </p:nvSpPr>
        <p:spPr>
          <a:xfrm>
            <a:off x="5839832" y="3995678"/>
            <a:ext cx="619494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SA provides a different search mechanism from population-based approaches.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It can explore neighbouring configurations.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The cooling schedule controls the exploration/exploitation balance.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Performance depends on temperature and cooling parameters.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AB760-8830-5CB7-174E-22BE8EE95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6555" y="1135609"/>
            <a:ext cx="64008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3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B4B8E-7337-F8E7-B4EC-9B7B8D43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ACE3A6-5861-06FE-39D0-5C6960CBB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Algorithm 7: Differential Evolution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953419-3BA1-F11B-34B2-783BF2C57CA9}"/>
              </a:ext>
            </a:extLst>
          </p:cNvPr>
          <p:cNvSpPr txBox="1"/>
          <p:nvPr/>
        </p:nvSpPr>
        <p:spPr>
          <a:xfrm>
            <a:off x="358589" y="1135609"/>
            <a:ext cx="502796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does Differential Evolution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Maintains a population of candidate configurations.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Uses differences between population members to create new candidates.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Applies mutation and crossover.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Compares the new candidate with the existing candidate.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Retains the better solution.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95139-77B7-3EA2-53B8-4C6A6C91ED97}"/>
              </a:ext>
            </a:extLst>
          </p:cNvPr>
          <p:cNvSpPr txBox="1"/>
          <p:nvPr/>
        </p:nvSpPr>
        <p:spPr>
          <a:xfrm>
            <a:off x="5839832" y="3995678"/>
            <a:ext cx="619494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What did we learn?</a:t>
            </a:r>
          </a:p>
          <a:p>
            <a:endParaRPr lang="en-DE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DE improved the validation Macro F1.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However, the improvement did not transfer to the independent test 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 This is another example of the </a:t>
            </a:r>
            <a:r>
              <a:rPr lang="en-DE" b="1" dirty="0"/>
              <a:t>validation–test gap</a:t>
            </a:r>
            <a:r>
              <a:rPr lang="en-DE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The algorithm requires multiple candidate evaluations.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E9837F-5E11-7CFB-D754-60FC3579F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79332"/>
            <a:ext cx="4445000" cy="264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507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30C10-5456-9BEC-91A1-E00B46ED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A53308-7A73-9099-7F9A-8D200D0CF9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Controlled Computational Budget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80BD1F-6F10-200B-B913-01CD017E72FA}"/>
              </a:ext>
            </a:extLst>
          </p:cNvPr>
          <p:cNvSpPr txBox="1"/>
          <p:nvPr/>
        </p:nvSpPr>
        <p:spPr>
          <a:xfrm>
            <a:off x="438599" y="1501369"/>
            <a:ext cx="502796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b="1" dirty="0"/>
              <a:t>Why did we introduce a controlled budget?</a:t>
            </a:r>
          </a:p>
          <a:p>
            <a:endParaRPr lang="en-DE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000" dirty="0"/>
              <a:t>Different algorithms naturally require different numbers of evaluations.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000" dirty="0"/>
              <a:t>Directly comparing final scores without considering computational resources can be misleading.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000" dirty="0"/>
              <a:t>Therefore, later experiments allocate a defined resource budget to each optimizer.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425C10-63D4-D932-4C1E-A95CFA831E53}"/>
              </a:ext>
            </a:extLst>
          </p:cNvPr>
          <p:cNvSpPr txBox="1"/>
          <p:nvPr/>
        </p:nvSpPr>
        <p:spPr>
          <a:xfrm>
            <a:off x="5896982" y="1501369"/>
            <a:ext cx="619494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Water Potability</a:t>
            </a:r>
          </a:p>
          <a:p>
            <a:r>
              <a:rPr lang="en-DE" b="1" dirty="0"/>
              <a:t>	</a:t>
            </a:r>
            <a:r>
              <a:rPr lang="en-DE" dirty="0"/>
              <a:t>3,000 training-iteration resource units per optimizer</a:t>
            </a:r>
          </a:p>
          <a:p>
            <a:r>
              <a:rPr lang="en-DE" b="1" dirty="0"/>
              <a:t>Solar Flare</a:t>
            </a:r>
          </a:p>
          <a:p>
            <a:r>
              <a:rPr lang="en-DE" b="1" dirty="0"/>
              <a:t>	</a:t>
            </a:r>
            <a:r>
              <a:rPr lang="en-DE" dirty="0"/>
              <a:t>15,000 resource units per optimizer</a:t>
            </a:r>
          </a:p>
          <a:p>
            <a:r>
              <a:rPr lang="en-DE" b="1" dirty="0"/>
              <a:t>Solar Flare example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5-fold CV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Maximum MLP iterations = 500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DE" dirty="0"/>
              <a:t>Six full evaluations: </a:t>
            </a:r>
          </a:p>
          <a:p>
            <a:pPr lvl="1"/>
            <a:r>
              <a:rPr lang="en-DE" b="1" dirty="0"/>
              <a:t>6 × 5 × 500 = 15,000 resource units</a:t>
            </a:r>
            <a:endParaRPr lang="en-DE" dirty="0"/>
          </a:p>
          <a:p>
            <a:r>
              <a:rPr lang="en-DE" b="1" dirty="0"/>
              <a:t>Main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Compare algorithms under comparable computational constraints.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dirty="0"/>
              <a:t>Analyse not only the final score but also </a:t>
            </a:r>
            <a:r>
              <a:rPr lang="en-DE" b="1" dirty="0"/>
              <a:t>how efficiently the score was obtained</a:t>
            </a:r>
            <a:r>
              <a:rPr lang="en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59501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0E8B8-F994-5D4B-46F5-BC7D2972D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B30F3C5-74C3-EFC9-2176-B33D20ECE0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Optimization Results Across Datasets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EA79D3-2E0E-F1C7-0B63-46E6AA2B2AFB}"/>
              </a:ext>
            </a:extLst>
          </p:cNvPr>
          <p:cNvSpPr txBox="1"/>
          <p:nvPr/>
        </p:nvSpPr>
        <p:spPr>
          <a:xfrm>
            <a:off x="438599" y="1501369"/>
            <a:ext cx="502796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b="1" dirty="0"/>
              <a:t>Cross-dataset observations</a:t>
            </a:r>
          </a:p>
          <a:p>
            <a:endParaRPr lang="en-DE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Optimization does </a:t>
            </a:r>
            <a:r>
              <a:rPr lang="en-DE" sz="2000" b="1" dirty="0"/>
              <a:t>not</a:t>
            </a:r>
            <a:r>
              <a:rPr lang="en-DE" sz="2000" dirty="0"/>
              <a:t> provide a universal improvement.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The effect depends strongly on the dataset.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Strong baselines have limited optimization headroom.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Class imbalance makes Macro F1 more informative than accuracy alone.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Validation improvements sometimes disappear on the independent test 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Computational cost varies considerably between optimization algorithms.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746D1C-8926-9859-33E1-CC56CB182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041" y="1501369"/>
            <a:ext cx="6563360" cy="235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49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24DE-5255-5CDD-7E57-47AFEBEAF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974A979-EBD5-7DA2-4729-525C078BC2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Performance vs Computational Cost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F4846-B92E-CF60-5BAC-AC2713BCA961}"/>
              </a:ext>
            </a:extLst>
          </p:cNvPr>
          <p:cNvSpPr txBox="1"/>
          <p:nvPr/>
        </p:nvSpPr>
        <p:spPr>
          <a:xfrm>
            <a:off x="438599" y="1501369"/>
            <a:ext cx="502796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b="1" dirty="0"/>
              <a:t>Computational observation(Why accuracy alone is not enough?)</a:t>
            </a:r>
          </a:p>
          <a:p>
            <a:endParaRPr lang="en-DE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LEA required approximately </a:t>
            </a:r>
            <a:r>
              <a:rPr lang="en-DE" sz="2000" b="1" dirty="0"/>
              <a:t>503 seconds</a:t>
            </a:r>
            <a:r>
              <a:rPr lang="en-DE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TLBO required approximately </a:t>
            </a:r>
            <a:r>
              <a:rPr lang="en-DE" sz="2000" b="1" dirty="0"/>
              <a:t>1,454 seconds</a:t>
            </a:r>
            <a:r>
              <a:rPr lang="en-DE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The final model training itself required only a small fraction of this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Therefore, optimization introduced substantial computational overhead.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09A98B-ECFB-49A9-D91C-F76B18C2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360" y="1501369"/>
            <a:ext cx="5461000" cy="288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5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24124-FA8E-00B4-1B3B-EA973CC08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E1420B-0D3F-FB56-D947-E19FFCA7B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Challenges and Limitations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2430D4-4C51-3414-E486-3CF13AF90C6A}"/>
              </a:ext>
            </a:extLst>
          </p:cNvPr>
          <p:cNvSpPr txBox="1"/>
          <p:nvPr/>
        </p:nvSpPr>
        <p:spPr>
          <a:xfrm>
            <a:off x="438599" y="1501369"/>
            <a:ext cx="1061421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Dataset-related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Class imbalance affects classification metrics.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Solar Flare contains extremely rare classes.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Water Potability has missing values and unequal class representation.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Electricity and Household Power contain temporal relationships.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Some datasets already have very high baseline performance. </a:t>
            </a:r>
          </a:p>
          <a:p>
            <a:r>
              <a:rPr lang="en-DE" b="1" dirty="0"/>
              <a:t>Optimization-related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Large hyperparameter spaces require many evaluations.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Population-based methods can be computationally expensive.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Bayesian methods have optimization overhead.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Hyperband may eliminate candidates early.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Simulated Annealing depends on temperature and cooling settings.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Limited budgets may prevent full exploration of the search space. </a:t>
            </a:r>
          </a:p>
          <a:p>
            <a:r>
              <a:rPr lang="en-DE" b="1" dirty="0"/>
              <a:t>Evaluation-related challenges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High validation performance may not generalize.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Test data cannot be used during optimization.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Accuracy alone is insufficient for imbalanced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Training time and optimization time need to be considered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705454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C1C0-DBD0-8CAC-2386-D2E223F7F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F070AD-5380-67D1-0EBA-DBAD17C4B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Controlled Computational Budget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7CCA5C-F6D8-CDA9-0A5F-D9BAEBDCB8AF}"/>
              </a:ext>
            </a:extLst>
          </p:cNvPr>
          <p:cNvSpPr txBox="1"/>
          <p:nvPr/>
        </p:nvSpPr>
        <p:spPr>
          <a:xfrm>
            <a:off x="358589" y="1044169"/>
            <a:ext cx="1061421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b="1" dirty="0"/>
              <a:t>Energy Efficiency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Baseline accuracy: </a:t>
            </a:r>
            <a:r>
              <a:rPr lang="en-DE" sz="2000" b="1" dirty="0"/>
              <a:t>96.75%</a:t>
            </a:r>
            <a:r>
              <a:rPr lang="en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Random Search: </a:t>
            </a:r>
            <a:r>
              <a:rPr lang="en-DE" sz="2000" b="1" dirty="0"/>
              <a:t>96.75%</a:t>
            </a:r>
            <a:r>
              <a:rPr lang="en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Hyperband: </a:t>
            </a:r>
            <a:r>
              <a:rPr lang="en-DE" sz="2000" b="1" dirty="0"/>
              <a:t>96.75%</a:t>
            </a:r>
            <a:r>
              <a:rPr lang="en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Other optimization methods produced lower results.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Further optimization offered limited expected benefit.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sz="2000" dirty="0"/>
          </a:p>
          <a:p>
            <a:r>
              <a:rPr lang="en-DE" sz="2000" b="1" dirty="0"/>
              <a:t>Smart Grid Stability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Baseline accuracy: </a:t>
            </a:r>
            <a:r>
              <a:rPr lang="en-DE" sz="2000" b="1" dirty="0"/>
              <a:t>97.40%</a:t>
            </a:r>
            <a:r>
              <a:rPr lang="en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Best optimized accuracy: </a:t>
            </a:r>
            <a:r>
              <a:rPr lang="en-DE" sz="2000" b="1" dirty="0"/>
              <a:t>97.55%</a:t>
            </a:r>
            <a:r>
              <a:rPr lang="en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Improvement: only </a:t>
            </a:r>
            <a:r>
              <a:rPr lang="en-DE" sz="2000" b="1" dirty="0"/>
              <a:t>0.15 percentage points</a:t>
            </a:r>
            <a:r>
              <a:rPr lang="en-DE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LEA and TLBO required substantial optimization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sz="2000" dirty="0"/>
          </a:p>
          <a:p>
            <a:r>
              <a:rPr lang="en-DE" sz="2000" b="1" dirty="0"/>
              <a:t>Appliance Energy Prediction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Baseline performance was already extremely high.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Therefore, the potential improvement from hyperparameter optimization is limited.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The corrected Phase 2 run should be used for the final numerical slide.</a:t>
            </a:r>
          </a:p>
        </p:txBody>
      </p:sp>
    </p:spTree>
    <p:extLst>
      <p:ext uri="{BB962C8B-B14F-4D97-AF65-F5344CB8AC3E}">
        <p14:creationId xmlns:p14="http://schemas.microsoft.com/office/powerpoint/2010/main" val="1753949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3DB23-6E2A-CF22-FEF8-A42E2F7AD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D96F02E-A0E0-9A8B-939C-629001750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709" y="-432793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What Did the Experiments Show?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C950E5-911A-8777-218C-7B9CC471DB3F}"/>
              </a:ext>
            </a:extLst>
          </p:cNvPr>
          <p:cNvSpPr txBox="1"/>
          <p:nvPr/>
        </p:nvSpPr>
        <p:spPr>
          <a:xfrm>
            <a:off x="358589" y="611724"/>
            <a:ext cx="11460031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b="1" dirty="0"/>
              <a:t>Finding 1 — No universal optimizer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No single optimization algorithm consistently produced the best independent-test result across all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Algorithm performance depends on dataset characteristics.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dirty="0"/>
          </a:p>
          <a:p>
            <a:r>
              <a:rPr lang="en-DE" b="1" dirty="0"/>
              <a:t>Finding 2 — Strong baseline limits improvement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Energy Efficiency and Smart Grid already had very strong baseline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Additional optimization produced little improvement.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dirty="0"/>
          </a:p>
          <a:p>
            <a:r>
              <a:rPr lang="en-DE" b="1" dirty="0"/>
              <a:t>Finding 3 — Validation ≠ Test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Several optimizers achieved higher validation scores.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Some of those improvements disappeared on the independent test 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dirty="0"/>
          </a:p>
          <a:p>
            <a:r>
              <a:rPr lang="en-DE" b="1" dirty="0"/>
              <a:t>Finding 4 — Computational cost matters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LEA and TLBO can require substantially more computation.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The optimization process can take much longer than training the final model.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dirty="0"/>
          </a:p>
          <a:p>
            <a:r>
              <a:rPr lang="en-DE" b="1" dirty="0"/>
              <a:t>Finding 5 — Metric selection matters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Macro F1 is important for imbalanced classification.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Accuracy alone can hide poor minority-class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dirty="0"/>
          </a:p>
          <a:p>
            <a:r>
              <a:rPr lang="en-DE" b="1" dirty="0"/>
              <a:t>Finding 6 — Controlled budgets improve comparison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dirty="0"/>
              <a:t>Equal-resource experiments make optimizer comparisons more meaningful.</a:t>
            </a:r>
          </a:p>
        </p:txBody>
      </p:sp>
    </p:spTree>
    <p:extLst>
      <p:ext uri="{BB962C8B-B14F-4D97-AF65-F5344CB8AC3E}">
        <p14:creationId xmlns:p14="http://schemas.microsoft.com/office/powerpoint/2010/main" val="3247888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2EE4F-33E8-F5A2-B28F-3510989A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394B195-7E8B-7D07-0E5D-8CB8228B6F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589" y="-85367"/>
            <a:ext cx="13011374" cy="985520"/>
          </a:xfrm>
        </p:spPr>
        <p:txBody>
          <a:bodyPr>
            <a:noAutofit/>
          </a:bodyPr>
          <a:lstStyle/>
          <a:p>
            <a:pPr algn="l"/>
            <a:r>
              <a:rPr lang="en-DE" sz="3200" b="1" dirty="0"/>
              <a:t>Final Conclusion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A44DFF-BD2D-1077-F2A9-6856DDB171E8}"/>
              </a:ext>
            </a:extLst>
          </p:cNvPr>
          <p:cNvSpPr txBox="1"/>
          <p:nvPr/>
        </p:nvSpPr>
        <p:spPr>
          <a:xfrm>
            <a:off x="438598" y="1501369"/>
            <a:ext cx="10625641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E" sz="2000" b="1" dirty="0"/>
              <a:t>From the experiments:</a:t>
            </a:r>
          </a:p>
          <a:p>
            <a:endParaRPr lang="en-DE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A baseline is essential for measuring the real contribution of optimization.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Hyperparameter optimization can improve performance, but improvement is </a:t>
            </a:r>
            <a:r>
              <a:rPr lang="en-DE" sz="2000" b="1" dirty="0"/>
              <a:t>dataset-dependent</a:t>
            </a:r>
            <a:r>
              <a:rPr lang="en-DE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More sophisticated optimization does not automatically mean better prediction.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Validation performance must be confirmed using an independent test set.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Optimization time can be much greater than final model-training time.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Controlled computational budgets provide a fairer comparison.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Dataset characteristics influence which optimization strategy is useful.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000" dirty="0"/>
              <a:t>Training-loss and convergence plots provide additional evidence about model behaviour. </a:t>
            </a:r>
          </a:p>
          <a:p>
            <a:endParaRPr lang="en-DE" sz="2000" b="1" dirty="0"/>
          </a:p>
          <a:p>
            <a:r>
              <a:rPr lang="en-DE" sz="2000" b="1" dirty="0"/>
              <a:t>The effectiveness of hyperparameter optimization should be evaluated as a combination of predictive improvement, generalization, search behaviour and computational cost — rather than accuracy alone.</a:t>
            </a:r>
            <a:endParaRPr lang="en-DE" sz="2000" dirty="0"/>
          </a:p>
        </p:txBody>
      </p:sp>
    </p:spTree>
    <p:extLst>
      <p:ext uri="{BB962C8B-B14F-4D97-AF65-F5344CB8AC3E}">
        <p14:creationId xmlns:p14="http://schemas.microsoft.com/office/powerpoint/2010/main" val="3398931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2028</Words>
  <Application>Microsoft Macintosh PowerPoint</Application>
  <PresentationFormat>Widescreen</PresentationFormat>
  <Paragraphs>316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AI-Assisted Design &amp; Optimization (AutoML + Metaheuristics)</vt:lpstr>
      <vt:lpstr>What is the Thesis About?</vt:lpstr>
      <vt:lpstr>Datasets</vt:lpstr>
      <vt:lpstr>What Was Done in Phase 1?</vt:lpstr>
      <vt:lpstr>Phase 1 Results</vt:lpstr>
      <vt:lpstr>From Continuous Energy Consumption to Classification Classes</vt:lpstr>
      <vt:lpstr>Baseline Model</vt:lpstr>
      <vt:lpstr>Baseline Performance Across Datasets</vt:lpstr>
      <vt:lpstr>Hyperparameter Search Space</vt:lpstr>
      <vt:lpstr>Candidate Evaluation</vt:lpstr>
      <vt:lpstr>Optimization Algorithm 1: Random Search</vt:lpstr>
      <vt:lpstr>Optimization Algorithm 2: Bayesian Optimization</vt:lpstr>
      <vt:lpstr>Optimization Algorithm 3: Hyperband</vt:lpstr>
      <vt:lpstr>Optimization Algorithm 4: LEA</vt:lpstr>
      <vt:lpstr>Optimization Algorithm 5: TLBO</vt:lpstr>
      <vt:lpstr>Optimization Algorithm 6: Simulated Annealing</vt:lpstr>
      <vt:lpstr>Optimization Algorithm 7: Differential Evolution</vt:lpstr>
      <vt:lpstr>Controlled Computational Budget</vt:lpstr>
      <vt:lpstr>Optimization Results Across Datasets</vt:lpstr>
      <vt:lpstr>Performance vs Computational Cost</vt:lpstr>
      <vt:lpstr>Challenges and Limitations</vt:lpstr>
      <vt:lpstr>Controlled Computational Budget</vt:lpstr>
      <vt:lpstr>What Did the Experiments Show?</vt:lpstr>
      <vt:lpstr>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Swamy, Shunmugapriya (Stud SRH-University)</dc:creator>
  <cp:lastModifiedBy>Swamy, Shunmugapriya (Stud SRH-University)</cp:lastModifiedBy>
  <cp:revision>2</cp:revision>
  <dcterms:created xsi:type="dcterms:W3CDTF">2026-09-30T21:03:17Z</dcterms:created>
  <dcterms:modified xsi:type="dcterms:W3CDTF">2026-09-30T23:30:18Z</dcterms:modified>
</cp:coreProperties>
</file>